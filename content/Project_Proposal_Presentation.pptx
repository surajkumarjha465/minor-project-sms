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8e857fb6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3e8e857fb6f_0_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8e857fb6f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8e857fb6f_4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4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028090">
              <a:alpha val="25098"/>
            </a:srgbClr>
          </a:solidFill>
          <a:ln w="12700" cap="flat" cmpd="sng">
            <a:solidFill>
              <a:srgbClr val="028090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4"/>
          <p:cNvSpPr/>
          <p:nvPr/>
        </p:nvSpPr>
        <p:spPr>
          <a:xfrm>
            <a:off x="7955280" y="-182880"/>
            <a:ext cx="1371600" cy="13716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 cap="flat" cmpd="sng">
            <a:solidFill>
              <a:srgbClr val="02C39A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4"/>
          <p:cNvSpPr/>
          <p:nvPr/>
        </p:nvSpPr>
        <p:spPr>
          <a:xfrm>
            <a:off x="411480" y="210312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NEPAL COLLEGE OF INFORMATION TECHNOLOGY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411480" y="722376"/>
            <a:ext cx="8321040" cy="383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Pokhara University  |  Department of IT Engineering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A0C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Minor Project Proposal  —  June 2026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411480" y="1265455"/>
            <a:ext cx="8321040" cy="2743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 cap="flat" cmpd="sng">
            <a:solidFill>
              <a:srgbClr val="02809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411480" y="1279171"/>
            <a:ext cx="83210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US" sz="5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Academic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11480" y="2038618"/>
            <a:ext cx="8321040" cy="613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5200"/>
              <a:buFont typeface="Calibri"/>
              <a:buNone/>
            </a:pPr>
            <a:r>
              <a:rPr lang="en-US" sz="5200" b="1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Management System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11480" y="2598071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600"/>
              <a:buFont typeface="Calibri"/>
              <a:buNone/>
            </a:pPr>
            <a:r>
              <a:rPr lang="en-US" sz="1600" i="1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with AI-Based Attendance &amp; Performance Analytics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11480" y="3154680"/>
            <a:ext cx="8321040" cy="2743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 cap="flat" cmpd="sng">
            <a:solidFill>
              <a:srgbClr val="02809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411480" y="3273552"/>
            <a:ext cx="8321040" cy="748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By Team  :- 4_Bits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Members :- Anamika Aryal  |  Dip Kiran Limbu  |  Sumit Kumar Das  |  Suraj Kumar Jha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11480" y="3566160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7132320" y="4754880"/>
            <a:ext cx="2011680" cy="32004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7132320" y="475488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9450"/>
            <a:ext cx="8839199" cy="804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16110"/>
            <a:ext cx="8839200" cy="45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625175"/>
            <a:ext cx="4113275" cy="145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8638" y="1572250"/>
            <a:ext cx="4743276" cy="15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227800"/>
            <a:ext cx="4113275" cy="176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54750" y="3174875"/>
            <a:ext cx="4531050" cy="16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274320" y="1005840"/>
            <a:ext cx="3931800" cy="39777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411480" y="109728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lang="en-US" b="1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11480" y="150876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150"/>
              <a:buFont typeface="Calibri"/>
              <a:buNone/>
            </a:pPr>
            <a:r>
              <a:rPr lang="en-US" sz="135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To develop a Smart Academic Management System that integrates academic administration, AI-based attendance tracking, and student performance analytics into a centralized platform.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11480" y="3072384"/>
            <a:ext cx="128016" cy="128016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621792" y="30175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Role-Based Access Control (RBAC)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11480" y="3392424"/>
            <a:ext cx="128016" cy="128016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621792" y="33375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attendance via YOLOv8 face detection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11480" y="3712464"/>
            <a:ext cx="128016" cy="128016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621792" y="36576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Assignment &amp; internal marks management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11480" y="4032504"/>
            <a:ext cx="128016" cy="128016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621792" y="39776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analytics &amp; GPA prediction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11480" y="4352544"/>
            <a:ext cx="128016" cy="128016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621792" y="42976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WebSocket notifications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411480" y="4672584"/>
            <a:ext cx="128016" cy="128016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621792" y="46177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Docker-based deployment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434840" y="1024128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1100"/>
              <a:buFont typeface="Calibri"/>
              <a:buNone/>
            </a:pPr>
            <a:r>
              <a:rPr lang="en-US" b="1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FOUR USER ROLES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434840" y="1417320"/>
            <a:ext cx="4389120" cy="77724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4480560" y="141732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956048" y="15087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 Admin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956050" y="1801378"/>
            <a:ext cx="37491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Institution-wide management of depts, semesters, users, notices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434840" y="2331720"/>
            <a:ext cx="4389120" cy="77724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4480560" y="233172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956048" y="2423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Admin (HOD)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956050" y="2715774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Department-level course, teacher, student management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434840" y="3246120"/>
            <a:ext cx="4389120" cy="777240"/>
          </a:xfrm>
          <a:prstGeom prst="rect">
            <a:avLst/>
          </a:prstGeom>
          <a:solidFill>
            <a:srgbClr val="028070"/>
          </a:solidFill>
          <a:ln w="12700" cap="flat" cmpd="sng">
            <a:solidFill>
              <a:srgbClr val="028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480560" y="324612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956048" y="33375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956048" y="363016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Attendance, assignments, marks, notices, evaluations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434840" y="4160520"/>
            <a:ext cx="4389120" cy="777240"/>
          </a:xfrm>
          <a:prstGeom prst="rect">
            <a:avLst/>
          </a:prstGeom>
          <a:solidFill>
            <a:srgbClr val="036A7A"/>
          </a:solidFill>
          <a:ln w="12700" cap="flat" cmpd="sng">
            <a:solidFill>
              <a:srgbClr val="036A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480560" y="4160520"/>
            <a:ext cx="4114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956048" y="42519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956050" y="4544577"/>
            <a:ext cx="3749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950"/>
              <a:buFont typeface="Calibri"/>
              <a:buNone/>
            </a:pPr>
            <a:r>
              <a:rPr lang="en-US" sz="125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View attendance, submit assignments, track GPA, view notices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"/>
                            </p:stCondLst>
                            <p:childTnLst>
                              <p:par>
                                <p:cTn id="9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1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1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1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1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1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1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1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1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1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1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1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450" i="1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Modular Monolith Architecture with API-first design — 5 major layers:</a:t>
            </a:r>
            <a:endParaRPr sz="1450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274320" y="1371600"/>
            <a:ext cx="8595360" cy="621792"/>
          </a:xfrm>
          <a:prstGeom prst="rect">
            <a:avLst/>
          </a:prstGeom>
          <a:solidFill>
            <a:srgbClr val="0D5175"/>
          </a:solidFill>
          <a:ln w="12700" cap="flat" cmpd="sng">
            <a:solidFill>
              <a:srgbClr val="0D51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Google Shape;8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481328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868680" y="1444752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Layer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868680" y="171907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React.js + TypeScript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114800" y="1508760"/>
            <a:ext cx="18288" cy="347472"/>
          </a:xfrm>
          <a:prstGeom prst="rect">
            <a:avLst/>
          </a:prstGeom>
          <a:solidFill>
            <a:srgbClr val="02C39A">
              <a:alpha val="60000"/>
            </a:srgbClr>
          </a:solidFill>
          <a:ln w="12700" cap="flat" cmpd="sng">
            <a:solidFill>
              <a:srgbClr val="02C3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4251960" y="153619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Role-specific dashboards &amp; UI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274320" y="2093976"/>
            <a:ext cx="8595360" cy="621792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2203704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7"/>
          <p:cNvSpPr/>
          <p:nvPr/>
        </p:nvSpPr>
        <p:spPr>
          <a:xfrm>
            <a:off x="868680" y="216712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868680" y="244144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FastAPI (Python)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114800" y="2231136"/>
            <a:ext cx="18288" cy="347472"/>
          </a:xfrm>
          <a:prstGeom prst="rect">
            <a:avLst/>
          </a:prstGeom>
          <a:solidFill>
            <a:srgbClr val="02C39A">
              <a:alpha val="60000"/>
            </a:srgbClr>
          </a:solidFill>
          <a:ln w="12700" cap="flat" cmpd="sng">
            <a:solidFill>
              <a:srgbClr val="02C3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4251960" y="2258568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Business logic, auth, request handling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274320" y="2816352"/>
            <a:ext cx="8595360" cy="621792"/>
          </a:xfrm>
          <a:prstGeom prst="rect">
            <a:avLst/>
          </a:prstGeom>
          <a:solidFill>
            <a:srgbClr val="036A7A"/>
          </a:solidFill>
          <a:ln w="12700" cap="flat" cmpd="sng">
            <a:solidFill>
              <a:srgbClr val="036A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760" y="2926080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/>
          <p:nvPr/>
        </p:nvSpPr>
        <p:spPr>
          <a:xfrm>
            <a:off x="868680" y="2889504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Layer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868680" y="316382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114800" y="2953512"/>
            <a:ext cx="18288" cy="347472"/>
          </a:xfrm>
          <a:prstGeom prst="rect">
            <a:avLst/>
          </a:prstGeom>
          <a:solidFill>
            <a:srgbClr val="02C39A">
              <a:alpha val="60000"/>
            </a:srgbClr>
          </a:solidFill>
          <a:ln w="12700" cap="flat" cmpd="sng">
            <a:solidFill>
              <a:srgbClr val="02C3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251960" y="2980944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Persistent data storage &amp; management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74320" y="3538728"/>
            <a:ext cx="8595360" cy="621792"/>
          </a:xfrm>
          <a:prstGeom prst="rect">
            <a:avLst/>
          </a:prstGeom>
          <a:solidFill>
            <a:srgbClr val="025A68"/>
          </a:solidFill>
          <a:ln w="12700" cap="flat" cmpd="sng">
            <a:solidFill>
              <a:srgbClr val="025A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5760" y="3648456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868680" y="361188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Attendance Layer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868680" y="38862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YOLOv8 + Face Recognition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114800" y="3675888"/>
            <a:ext cx="18288" cy="347472"/>
          </a:xfrm>
          <a:prstGeom prst="rect">
            <a:avLst/>
          </a:prstGeom>
          <a:solidFill>
            <a:srgbClr val="02C39A">
              <a:alpha val="60000"/>
            </a:srgbClr>
          </a:solidFill>
          <a:ln w="12700" cap="flat" cmpd="sng">
            <a:solidFill>
              <a:srgbClr val="02C3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4251960" y="3703320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Face detection &amp; student identification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274320" y="4261104"/>
            <a:ext cx="8595360" cy="621792"/>
          </a:xfrm>
          <a:prstGeom prst="rect">
            <a:avLst/>
          </a:prstGeom>
          <a:solidFill>
            <a:srgbClr val="01485A"/>
          </a:solidFill>
          <a:ln w="12700" cap="flat" cmpd="sng">
            <a:solidFill>
              <a:srgbClr val="014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5760" y="437083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868680" y="4334256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Layer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68680" y="460857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WebSockets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114800" y="4398264"/>
            <a:ext cx="18288" cy="347472"/>
          </a:xfrm>
          <a:prstGeom prst="rect">
            <a:avLst/>
          </a:prstGeom>
          <a:solidFill>
            <a:srgbClr val="02C39A">
              <a:alpha val="60000"/>
            </a:srgbClr>
          </a:solidFill>
          <a:ln w="12700" cap="flat" cmpd="sng">
            <a:solidFill>
              <a:srgbClr val="02C39A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251960" y="4425696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Live notifications &amp; real-time updates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1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6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6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7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7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10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6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6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6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6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6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6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710139-E54C-FFC7-5270-C0CB789A5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177" y="86259"/>
            <a:ext cx="5378726" cy="476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5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4EFF39-7F29-3BE2-8514-0576B6460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989" y="0"/>
            <a:ext cx="41200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88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AI-BASED ATTENDANCE MODULE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rPr lang="en-US" i="1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YOLOv8 Face Detection + Facial Recognition — 8-step automated workflow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274345" y="1284768"/>
            <a:ext cx="4023300" cy="768000"/>
          </a:xfrm>
          <a:prstGeom prst="rect">
            <a:avLst/>
          </a:prstGeom>
          <a:solidFill>
            <a:srgbClr val="0A3060"/>
          </a:solidFill>
          <a:ln w="12700" cap="flat" cmpd="sng">
            <a:solidFill>
              <a:srgbClr val="1B4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365760" y="1463040"/>
            <a:ext cx="502920" cy="502920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960120" y="1490472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050"/>
              <a:buFont typeface="Calibri"/>
              <a:buNone/>
            </a:pPr>
            <a:r>
              <a:rPr lang="en-US" sz="125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Teacher captures / uploads a classroom image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74320" y="2258568"/>
            <a:ext cx="4023360" cy="768096"/>
          </a:xfrm>
          <a:prstGeom prst="rect">
            <a:avLst/>
          </a:prstGeom>
          <a:solidFill>
            <a:srgbClr val="0A3060"/>
          </a:solidFill>
          <a:ln w="12700" cap="flat" cmpd="sng">
            <a:solidFill>
              <a:srgbClr val="1B4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365760" y="2395728"/>
            <a:ext cx="502920" cy="502920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365760" y="23957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960120" y="24231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05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Backend sends image to AI attendance service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74320" y="3191256"/>
            <a:ext cx="4023360" cy="768096"/>
          </a:xfrm>
          <a:prstGeom prst="rect">
            <a:avLst/>
          </a:prstGeom>
          <a:solidFill>
            <a:srgbClr val="0A3060"/>
          </a:solidFill>
          <a:ln w="12700" cap="flat" cmpd="sng">
            <a:solidFill>
              <a:srgbClr val="1B4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365760" y="3328416"/>
            <a:ext cx="502920" cy="502920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365760" y="33284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960120" y="335584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050"/>
              <a:buFont typeface="Calibri"/>
              <a:buNone/>
            </a:pPr>
            <a:r>
              <a:rPr lang="en-US" sz="125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YOLOv8 detects all student faces in the image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274320" y="4123944"/>
            <a:ext cx="4023360" cy="768096"/>
          </a:xfrm>
          <a:prstGeom prst="rect">
            <a:avLst/>
          </a:prstGeom>
          <a:solidFill>
            <a:srgbClr val="0A3060"/>
          </a:solidFill>
          <a:ln w="12700" cap="flat" cmpd="sng">
            <a:solidFill>
              <a:srgbClr val="1B4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65760" y="4261104"/>
            <a:ext cx="502920" cy="502920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365760" y="42611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60120" y="428853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050"/>
              <a:buFont typeface="Calibri"/>
              <a:buNone/>
            </a:pPr>
            <a:r>
              <a:rPr lang="en-US" sz="125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Detected faces cropped &amp; </a:t>
            </a:r>
            <a:r>
              <a:rPr lang="en-US" sz="135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sent </a:t>
            </a:r>
            <a:r>
              <a:rPr lang="en-US" sz="125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to recognition model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709160" y="1325880"/>
            <a:ext cx="4023360" cy="768096"/>
          </a:xfrm>
          <a:prstGeom prst="rect">
            <a:avLst/>
          </a:prstGeom>
          <a:solidFill>
            <a:srgbClr val="0A3060"/>
          </a:solidFill>
          <a:ln w="12700" cap="flat" cmpd="sng">
            <a:solidFill>
              <a:srgbClr val="1B4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800600" y="1463040"/>
            <a:ext cx="502920" cy="502920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800600" y="1463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394960" y="1490472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05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Recognized identities matched with enrolled students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709160" y="2258568"/>
            <a:ext cx="4023360" cy="768096"/>
          </a:xfrm>
          <a:prstGeom prst="rect">
            <a:avLst/>
          </a:prstGeom>
          <a:solidFill>
            <a:srgbClr val="0A3060"/>
          </a:solidFill>
          <a:ln w="12700" cap="flat" cmpd="sng">
            <a:solidFill>
              <a:srgbClr val="1B4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800600" y="2395728"/>
            <a:ext cx="502920" cy="502920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4800600" y="23957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394960" y="242316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05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Attendance records auto-generated for teacher 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709160" y="3191256"/>
            <a:ext cx="4023360" cy="768096"/>
          </a:xfrm>
          <a:prstGeom prst="rect">
            <a:avLst/>
          </a:prstGeom>
          <a:solidFill>
            <a:srgbClr val="0A3060"/>
          </a:solidFill>
          <a:ln w="12700" cap="flat" cmpd="sng">
            <a:solidFill>
              <a:srgbClr val="1B4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800600" y="3328416"/>
            <a:ext cx="502920" cy="502920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800600" y="332841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5394960" y="335584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050"/>
              <a:buFont typeface="Calibri"/>
              <a:buNone/>
            </a:pPr>
            <a:r>
              <a:rPr lang="en-US" sz="125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Teacher confirms or manually edits the record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709160" y="4123944"/>
            <a:ext cx="4023360" cy="768096"/>
          </a:xfrm>
          <a:prstGeom prst="rect">
            <a:avLst/>
          </a:prstGeom>
          <a:solidFill>
            <a:srgbClr val="0A3060"/>
          </a:solidFill>
          <a:ln w="12700" cap="flat" cmpd="sng">
            <a:solidFill>
              <a:srgbClr val="1B4E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800600" y="4261104"/>
            <a:ext cx="502920" cy="502920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800600" y="42611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394960" y="4288536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05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Final attendance saved to PostgreSQL database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206240" y="1737360"/>
            <a:ext cx="731520" cy="36576"/>
          </a:xfrm>
          <a:prstGeom prst="rect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187952" y="155448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6400800" y="4800600"/>
            <a:ext cx="2468880" cy="292608"/>
          </a:xfrm>
          <a:prstGeom prst="rect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6400800" y="48006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1B4B"/>
              </a:buClr>
              <a:buSzPts val="850"/>
              <a:buFont typeface="Calibri"/>
              <a:buNone/>
            </a:pPr>
            <a:r>
              <a:rPr lang="en-US" sz="850" b="1">
                <a:solidFill>
                  <a:srgbClr val="0D1B4B"/>
                </a:solidFill>
                <a:latin typeface="Calibri"/>
                <a:ea typeface="Calibri"/>
                <a:cs typeface="Calibri"/>
                <a:sym typeface="Calibri"/>
              </a:rPr>
              <a:t>Literature benchmark: up to 98.7% recognition accuracy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0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00"/>
                            </p:stCondLst>
                            <p:childTnLst>
                              <p:par>
                                <p:cTn id="10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0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0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00"/>
                            </p:stCondLst>
                            <p:childTnLst>
                              <p:par>
                                <p:cTn id="1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000"/>
                            </p:stCondLst>
                            <p:childTnLst>
                              <p:par>
                                <p:cTn id="1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10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10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10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9" title="AttendanceWo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850" y="152400"/>
            <a:ext cx="52063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MODULES &amp; FEATURES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274320" y="1005840"/>
            <a:ext cx="2697480" cy="164592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38912" y="1170432"/>
            <a:ext cx="685800" cy="6858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3776" y="1225296"/>
            <a:ext cx="57607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0"/>
          <p:cNvSpPr/>
          <p:nvPr/>
        </p:nvSpPr>
        <p:spPr>
          <a:xfrm>
            <a:off x="411480" y="19659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RBAC Auth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11480" y="2267712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JWT-based auth with 4 role tiers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3291840" y="1005840"/>
            <a:ext cx="2697480" cy="16459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3456432" y="1170432"/>
            <a:ext cx="685800" cy="6858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" name="Google Shape;177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1296" y="1225296"/>
            <a:ext cx="57607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3429000" y="19659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Attendance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3429000" y="2267712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YOLOv8 face detection &amp; recognition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309360" y="1005840"/>
            <a:ext cx="2697480" cy="1645920"/>
          </a:xfrm>
          <a:prstGeom prst="rect">
            <a:avLst/>
          </a:prstGeom>
          <a:solidFill>
            <a:srgbClr val="028070"/>
          </a:solidFill>
          <a:ln w="12700" cap="flat" cmpd="sng">
            <a:solidFill>
              <a:srgbClr val="02807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6473952" y="1170432"/>
            <a:ext cx="685800" cy="6858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28816" y="1225296"/>
            <a:ext cx="57607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/>
          <p:nvPr/>
        </p:nvSpPr>
        <p:spPr>
          <a:xfrm>
            <a:off x="6446520" y="19659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446520" y="2267712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Create, submit &amp; grade assignments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274320" y="2834640"/>
            <a:ext cx="2697480" cy="1645920"/>
          </a:xfrm>
          <a:prstGeom prst="rect">
            <a:avLst/>
          </a:prstGeom>
          <a:solidFill>
            <a:srgbClr val="036A7A"/>
          </a:solidFill>
          <a:ln w="12700" cap="flat" cmpd="sng">
            <a:solidFill>
              <a:srgbClr val="036A7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38912" y="2999232"/>
            <a:ext cx="685800" cy="6858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3776" y="3054096"/>
            <a:ext cx="57607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0"/>
          <p:cNvSpPr/>
          <p:nvPr/>
        </p:nvSpPr>
        <p:spPr>
          <a:xfrm>
            <a:off x="411480" y="37947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11480" y="4096512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Performance stats &amp; GPA prediction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291840" y="2834640"/>
            <a:ext cx="2697480" cy="1645920"/>
          </a:xfrm>
          <a:prstGeom prst="rect">
            <a:avLst/>
          </a:prstGeom>
          <a:solidFill>
            <a:srgbClr val="025A68"/>
          </a:solidFill>
          <a:ln w="12700" cap="flat" cmpd="sng">
            <a:solidFill>
              <a:srgbClr val="025A6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3456432" y="2999232"/>
            <a:ext cx="685800" cy="6858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11296" y="3054096"/>
            <a:ext cx="57607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>
            <a:off x="3429000" y="37947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Notices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3429000" y="4096512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00"/>
              <a:buFont typeface="Calibri"/>
              <a:buNone/>
            </a:pPr>
            <a:r>
              <a:rPr lang="en-US" sz="120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WebSocket push notifications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309360" y="2834640"/>
            <a:ext cx="2697480" cy="1645920"/>
          </a:xfrm>
          <a:prstGeom prst="rect">
            <a:avLst/>
          </a:prstGeom>
          <a:solidFill>
            <a:srgbClr val="01485A"/>
          </a:solidFill>
          <a:ln w="12700" cap="flat" cmpd="sng">
            <a:solidFill>
              <a:srgbClr val="01485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6473952" y="2999232"/>
            <a:ext cx="685800" cy="685800"/>
          </a:xfrm>
          <a:prstGeom prst="ellipse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7" name="Google Shape;197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28816" y="3054096"/>
            <a:ext cx="576072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/>
          <p:nvPr/>
        </p:nvSpPr>
        <p:spPr>
          <a:xfrm>
            <a:off x="6446520" y="37947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6446520" y="4096512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Role-specific academic overviews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4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4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9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9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8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8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9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9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8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8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9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9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8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8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9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9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7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8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8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9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9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8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8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9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9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274320" y="1051560"/>
            <a:ext cx="269748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274320" y="1051560"/>
            <a:ext cx="2697480" cy="411480"/>
          </a:xfrm>
          <a:prstGeom prst="rect">
            <a:avLst/>
          </a:prstGeom>
          <a:solidFill>
            <a:srgbClr val="0D5175"/>
          </a:solidFill>
          <a:ln w="12700" cap="flat" cmpd="sng">
            <a:solidFill>
              <a:srgbClr val="0D51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274320" y="105156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57200" y="1554480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640080" y="15087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57200" y="1956816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640080" y="191109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57200" y="2359152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640080" y="23134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291840" y="1051560"/>
            <a:ext cx="269748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3291840" y="1051560"/>
            <a:ext cx="2697480" cy="41148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3291840" y="105156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474720" y="1554480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3657600" y="15087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474720" y="1956816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3657600" y="191109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3474720" y="2359152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3657600" y="23134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JWT Auth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309360" y="1051560"/>
            <a:ext cx="269748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6309360" y="1051560"/>
            <a:ext cx="2697480" cy="411480"/>
          </a:xfrm>
          <a:prstGeom prst="rect">
            <a:avLst/>
          </a:prstGeom>
          <a:solidFill>
            <a:srgbClr val="036A7A"/>
          </a:solidFill>
          <a:ln w="12700" cap="flat" cmpd="sng">
            <a:solidFill>
              <a:srgbClr val="036A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6309360" y="105156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492240" y="1554480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675120" y="15087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492240" y="1956816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6675120" y="191109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SQLAlchemy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492240" y="2359152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6675120" y="23134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Alembic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274320" y="3017520"/>
            <a:ext cx="269748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274320" y="3017520"/>
            <a:ext cx="2697480" cy="411480"/>
          </a:xfrm>
          <a:prstGeom prst="rect">
            <a:avLst/>
          </a:prstGeom>
          <a:solidFill>
            <a:srgbClr val="025A68"/>
          </a:solidFill>
          <a:ln w="12700" cap="flat" cmpd="sng">
            <a:solidFill>
              <a:srgbClr val="025A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274320" y="30175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/ ML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57200" y="3520440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640080" y="34747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YOLOv8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57200" y="3922776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640080" y="387705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FaceNet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57200" y="4325112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640080" y="42793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OpenCV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291840" y="3017520"/>
            <a:ext cx="269748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3291840" y="3017520"/>
            <a:ext cx="2697480" cy="411480"/>
          </a:xfrm>
          <a:prstGeom prst="rect">
            <a:avLst/>
          </a:prstGeom>
          <a:solidFill>
            <a:srgbClr val="01485A"/>
          </a:solidFill>
          <a:ln w="12700" cap="flat" cmpd="sng">
            <a:solidFill>
              <a:srgbClr val="014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3291840" y="30175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DevOps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3474720" y="3520440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3657600" y="34747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474720" y="3922776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657600" y="387705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docker-compose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3474720" y="4325112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3657600" y="42793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Nginx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309360" y="3017520"/>
            <a:ext cx="269748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6309360" y="3017520"/>
            <a:ext cx="2697480" cy="411480"/>
          </a:xfrm>
          <a:prstGeom prst="rect">
            <a:avLst/>
          </a:prstGeom>
          <a:solidFill>
            <a:srgbClr val="023A4A"/>
          </a:solidFill>
          <a:ln w="12700" cap="flat" cmpd="sng">
            <a:solidFill>
              <a:srgbClr val="02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309360" y="30175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6492240" y="3520440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6675120" y="34747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WebSocket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492240" y="3922776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675120" y="387705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492240" y="4325112"/>
            <a:ext cx="109728" cy="109728"/>
          </a:xfrm>
          <a:prstGeom prst="ellipse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6675120" y="427939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Swagger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0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0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0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10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10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0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0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0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10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10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10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10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10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10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10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MEMBERS &amp; ROLES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182880" y="1005840"/>
            <a:ext cx="2057400" cy="393192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"/>
          <p:cNvSpPr/>
          <p:nvPr/>
        </p:nvSpPr>
        <p:spPr>
          <a:xfrm>
            <a:off x="758952" y="1097280"/>
            <a:ext cx="914400" cy="914400"/>
          </a:xfrm>
          <a:prstGeom prst="ellipse">
            <a:avLst/>
          </a:prstGeom>
          <a:solidFill>
            <a:srgbClr val="FFFFFF">
              <a:alpha val="14901"/>
            </a:srgbClr>
          </a:solidFill>
          <a:ln w="12700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758952" y="10972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274320" y="212140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Suraj Kumar Jha</a:t>
            </a:r>
            <a:endParaRPr sz="12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274320" y="2523744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2315537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320040" y="2798064"/>
            <a:ext cx="1783080" cy="27432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320040" y="279806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Lead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365760" y="3200400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512064" y="314553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System Analysis &amp; Architecture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365760" y="3621024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512064" y="356616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Backend API (FastAPI)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365760" y="4041648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512064" y="398678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AI Attendance Module (YOLOv8)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365760" y="4462272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12064" y="440740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2377440" y="1005840"/>
            <a:ext cx="2057400" cy="3931920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2953512" y="1097280"/>
            <a:ext cx="914400" cy="914400"/>
          </a:xfrm>
          <a:prstGeom prst="ellipse">
            <a:avLst/>
          </a:prstGeom>
          <a:solidFill>
            <a:srgbClr val="FFFFFF">
              <a:alpha val="14901"/>
            </a:srgbClr>
          </a:solidFill>
          <a:ln w="12700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2953512" y="10972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2468880" y="212140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Anamika Aryal</a:t>
            </a:r>
            <a:endParaRPr sz="12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2468880" y="2523744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231502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2514600" y="2798064"/>
            <a:ext cx="1783080" cy="27432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2514600" y="279806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DevOps &amp; Integration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2560320" y="3200400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2706624" y="314553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WebSocket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2560320" y="3621024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2706624" y="356616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Docker Deployment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2560320" y="4041648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2706624" y="398678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Dashboard 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2560320" y="4462272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2706624" y="440740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572000" y="1005840"/>
            <a:ext cx="2057400" cy="3931920"/>
          </a:xfrm>
          <a:prstGeom prst="rect">
            <a:avLst/>
          </a:prstGeom>
          <a:solidFill>
            <a:srgbClr val="028070"/>
          </a:solidFill>
          <a:ln w="12700" cap="flat" cmpd="sng">
            <a:solidFill>
              <a:srgbClr val="028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5148072" y="1097280"/>
            <a:ext cx="914400" cy="914400"/>
          </a:xfrm>
          <a:prstGeom prst="ellipse">
            <a:avLst/>
          </a:prstGeom>
          <a:solidFill>
            <a:srgbClr val="FFFFFF">
              <a:alpha val="14901"/>
            </a:srgbClr>
          </a:solidFill>
          <a:ln w="12700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5148072" y="10972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663440" y="212140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Dip Kiran Limbu</a:t>
            </a:r>
            <a:endParaRPr sz="12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663440" y="2523744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231512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709160" y="2798064"/>
            <a:ext cx="1783080" cy="27432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4709160" y="279806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Analytics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4754880" y="3200400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4901184" y="314553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Database (PostgreSQL)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4754880" y="3621024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4901184" y="356616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Assignment Module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4754880" y="4041648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4901184" y="398678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Analytics &amp; GPA Prediction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754880" y="4462272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4901184" y="440740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Attendance Module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766560" y="1005840"/>
            <a:ext cx="2057400" cy="3931920"/>
          </a:xfrm>
          <a:prstGeom prst="rect">
            <a:avLst/>
          </a:prstGeom>
          <a:solidFill>
            <a:srgbClr val="036A7A"/>
          </a:solidFill>
          <a:ln w="12700" cap="flat" cmpd="sng">
            <a:solidFill>
              <a:srgbClr val="036A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7342632" y="1097280"/>
            <a:ext cx="914400" cy="914400"/>
          </a:xfrm>
          <a:prstGeom prst="ellipse">
            <a:avLst/>
          </a:prstGeom>
          <a:solidFill>
            <a:srgbClr val="FFFFFF">
              <a:alpha val="14901"/>
            </a:srgbClr>
          </a:solidFill>
          <a:ln w="12700" cap="flat" cmpd="sng">
            <a:solidFill>
              <a:srgbClr val="FFFFFF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7342632" y="10972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6858000" y="212140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2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Sumit Kumar Das</a:t>
            </a:r>
            <a:endParaRPr sz="12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6858000" y="2523744"/>
            <a:ext cx="1874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231536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6903720" y="2798064"/>
            <a:ext cx="1783080" cy="274320"/>
          </a:xfrm>
          <a:prstGeom prst="rect">
            <a:avLst/>
          </a:prstGeom>
          <a:solidFill>
            <a:srgbClr val="02C39A">
              <a:alpha val="80000"/>
            </a:srgbClr>
          </a:solidFill>
          <a:ln w="12700" cap="flat" cmpd="sng">
            <a:solidFill>
              <a:srgbClr val="02C39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2"/>
          <p:cNvSpPr/>
          <p:nvPr/>
        </p:nvSpPr>
        <p:spPr>
          <a:xfrm>
            <a:off x="6903720" y="2798064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Dev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949440" y="3200400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7095744" y="3145536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React.js + TypeScript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949440" y="3621024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7095744" y="3566160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UI/UX 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6949440" y="4041648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7095744" y="3986784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JWT / RBAC Frontend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6949440" y="4462272"/>
            <a:ext cx="91440" cy="91440"/>
          </a:xfrm>
          <a:prstGeom prst="ellipse">
            <a:avLst/>
          </a:prstGeom>
          <a:solidFill>
            <a:srgbClr val="02C39A"/>
          </a:solidFill>
          <a:ln w="12700" cap="flat" cmpd="sng">
            <a:solidFill>
              <a:srgbClr val="02C3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7095744" y="440740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Responsive Layouts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182880" y="4864608"/>
            <a:ext cx="8778240" cy="201168"/>
          </a:xfrm>
          <a:prstGeom prst="rect">
            <a:avLst/>
          </a:prstGeom>
          <a:solidFill>
            <a:srgbClr val="F0F7FA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228600" y="4864608"/>
            <a:ext cx="8686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Shared: Requirement gathering · Literature review · Testing &amp; debugging · Report writing · UAT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6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80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9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9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1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1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2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6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8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9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1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11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2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2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3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13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6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800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900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0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1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100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2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3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13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6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7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8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9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1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1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2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12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3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13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A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TIMELINE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274320" y="1005840"/>
            <a:ext cx="1188720" cy="566928"/>
          </a:xfrm>
          <a:prstGeom prst="rect">
            <a:avLst/>
          </a:prstGeom>
          <a:solidFill>
            <a:srgbClr val="0D1B4B"/>
          </a:solidFill>
          <a:ln w="12700" cap="flat" cmpd="sng">
            <a:solidFill>
              <a:srgbClr val="0D1B4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274320" y="100584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554480" y="106070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Planning &amp; Requirements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554480" y="132588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System analysis, requirement gathering, literature 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675120" y="1097280"/>
            <a:ext cx="2103120" cy="347472"/>
          </a:xfrm>
          <a:prstGeom prst="rect">
            <a:avLst/>
          </a:prstGeom>
          <a:solidFill>
            <a:srgbClr val="0D1B4B">
              <a:alpha val="85098"/>
            </a:srgbClr>
          </a:solidFill>
          <a:ln w="12700" cap="flat" cmpd="sng">
            <a:solidFill>
              <a:srgbClr val="0D1B4B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675120" y="109728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1–2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274320" y="1673352"/>
            <a:ext cx="859536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274320" y="1673352"/>
            <a:ext cx="1188720" cy="566928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274320" y="1673352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1554480" y="172821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Design &amp; Architecture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1554480" y="199339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Database schema, system architecture, UI wireframes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675120" y="1764792"/>
            <a:ext cx="2103120" cy="347472"/>
          </a:xfrm>
          <a:prstGeom prst="rect">
            <a:avLst/>
          </a:prstGeom>
          <a:solidFill>
            <a:srgbClr val="028090">
              <a:alpha val="85098"/>
            </a:srgbClr>
          </a:solidFill>
          <a:ln w="12700" cap="flat" cmpd="sng">
            <a:solidFill>
              <a:srgbClr val="028090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3"/>
          <p:cNvSpPr/>
          <p:nvPr/>
        </p:nvSpPr>
        <p:spPr>
          <a:xfrm>
            <a:off x="6675120" y="176479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274320" y="2340864"/>
            <a:ext cx="859536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274320" y="2340864"/>
            <a:ext cx="1188720" cy="566928"/>
          </a:xfrm>
          <a:prstGeom prst="rect">
            <a:avLst/>
          </a:prstGeom>
          <a:solidFill>
            <a:srgbClr val="028070"/>
          </a:solidFill>
          <a:ln w="12700" cap="flat" cmpd="sng">
            <a:solidFill>
              <a:srgbClr val="0280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274320" y="2340864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554480" y="239572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Core Development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1554480" y="266090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RBAC auth, admin modules, teacher module, student module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6675120" y="2432304"/>
            <a:ext cx="2103120" cy="347472"/>
          </a:xfrm>
          <a:prstGeom prst="rect">
            <a:avLst/>
          </a:prstGeom>
          <a:solidFill>
            <a:srgbClr val="028070">
              <a:alpha val="85098"/>
            </a:srgbClr>
          </a:solidFill>
          <a:ln w="12700" cap="flat" cmpd="sng">
            <a:solidFill>
              <a:srgbClr val="028070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6675120" y="243230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4–5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274320" y="3008376"/>
            <a:ext cx="859536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274320" y="3008376"/>
            <a:ext cx="1188720" cy="566928"/>
          </a:xfrm>
          <a:prstGeom prst="rect">
            <a:avLst/>
          </a:prstGeom>
          <a:solidFill>
            <a:srgbClr val="036A7A"/>
          </a:solidFill>
          <a:ln w="12700" cap="flat" cmpd="sng">
            <a:solidFill>
              <a:srgbClr val="036A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274320" y="3008376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1554480" y="30632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Attendance Dev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1554480" y="332841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YOLOv8 integration, face recognition, attendance workflow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6675120" y="3099816"/>
            <a:ext cx="2103120" cy="347472"/>
          </a:xfrm>
          <a:prstGeom prst="rect">
            <a:avLst/>
          </a:prstGeom>
          <a:solidFill>
            <a:srgbClr val="036A7A">
              <a:alpha val="85098"/>
            </a:srgbClr>
          </a:solidFill>
          <a:ln w="12700" cap="flat" cmpd="sng">
            <a:solidFill>
              <a:srgbClr val="036A7A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6675120" y="309981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5–8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274320" y="3675888"/>
            <a:ext cx="859536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274320" y="3675888"/>
            <a:ext cx="1188720" cy="566928"/>
          </a:xfrm>
          <a:prstGeom prst="rect">
            <a:avLst/>
          </a:prstGeom>
          <a:solidFill>
            <a:srgbClr val="025A68"/>
          </a:solidFill>
          <a:ln w="12700" cap="flat" cmpd="sng">
            <a:solidFill>
              <a:srgbClr val="025A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274320" y="3675888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1554480" y="373075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Analytics &amp; GPA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1554480" y="399592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Performance analytics, GPA prediction module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6675120" y="3767328"/>
            <a:ext cx="2103120" cy="347472"/>
          </a:xfrm>
          <a:prstGeom prst="rect">
            <a:avLst/>
          </a:prstGeom>
          <a:solidFill>
            <a:srgbClr val="025A68">
              <a:alpha val="85098"/>
            </a:srgbClr>
          </a:solidFill>
          <a:ln w="12700" cap="flat" cmpd="sng">
            <a:solidFill>
              <a:srgbClr val="025A68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6675120" y="376732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274320" y="4343400"/>
            <a:ext cx="8595360" cy="56692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1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3"/>
          <p:cNvSpPr/>
          <p:nvPr/>
        </p:nvSpPr>
        <p:spPr>
          <a:xfrm>
            <a:off x="274320" y="4343400"/>
            <a:ext cx="1188720" cy="566928"/>
          </a:xfrm>
          <a:prstGeom prst="rect">
            <a:avLst/>
          </a:prstGeom>
          <a:solidFill>
            <a:srgbClr val="01485A"/>
          </a:solidFill>
          <a:ln w="12700" cap="flat" cmpd="sng">
            <a:solidFill>
              <a:srgbClr val="014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"/>
          <p:cNvSpPr/>
          <p:nvPr/>
        </p:nvSpPr>
        <p:spPr>
          <a:xfrm>
            <a:off x="274320" y="4343400"/>
            <a:ext cx="1188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1554480" y="439826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Testing &amp; Deployment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1554480" y="46634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Functional testing, UAT, Docker deployment, documentation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6675120" y="4434840"/>
            <a:ext cx="2103120" cy="347472"/>
          </a:xfrm>
          <a:prstGeom prst="rect">
            <a:avLst/>
          </a:prstGeom>
          <a:solidFill>
            <a:srgbClr val="01485A">
              <a:alpha val="85098"/>
            </a:srgbClr>
          </a:solidFill>
          <a:ln w="12700" cap="flat" cmpd="sng">
            <a:solidFill>
              <a:srgbClr val="01485A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6675120" y="443484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Weeks 10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0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0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10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10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10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10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10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10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10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10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10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10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10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10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10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10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10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10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0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10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10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10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10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10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10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10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 cap="flat" cmpd="sng">
            <a:solidFill>
              <a:srgbClr val="028090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2C39A">
              <a:alpha val="18039"/>
            </a:srgbClr>
          </a:solidFill>
          <a:ln w="12700" cap="flat" cmpd="sng">
            <a:solidFill>
              <a:srgbClr val="02C39A">
                <a:alpha val="18039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4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lang="en-US" sz="6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200"/>
              <a:buFont typeface="Calibri"/>
              <a:buNone/>
            </a:pPr>
            <a:r>
              <a:rPr lang="en-US" sz="2200" i="1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for your attention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2286000" y="2926080"/>
            <a:ext cx="4572000" cy="27432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Smart Academic Management System with AI-Based Attendance &amp; Performance Analytics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457200" y="35844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5D8E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5D8E8"/>
                </a:solidFill>
                <a:latin typeface="Calibri"/>
                <a:ea typeface="Calibri"/>
                <a:cs typeface="Calibri"/>
                <a:sym typeface="Calibri"/>
              </a:rPr>
              <a:t>Anamika Aryal  ·  Dip Kiran Limbu  ·  Sumit Kumar Das  ·  Suraj Kumar Jha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Nepal College of Information Technology  |  Pokhara University  |  2026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3474720" y="4663440"/>
            <a:ext cx="2194560" cy="347472"/>
          </a:xfrm>
          <a:prstGeom prst="rect">
            <a:avLst/>
          </a:prstGeom>
          <a:solidFill>
            <a:srgbClr val="028090"/>
          </a:solidFill>
          <a:ln w="12700" cap="flat" cmpd="sng">
            <a:solidFill>
              <a:srgbClr val="0280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3474720" y="466344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627</Words>
  <Application>Microsoft Office PowerPoint</Application>
  <PresentationFormat>On-screen Show (16:9)</PresentationFormat>
  <Paragraphs>180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Suraj Kumar Jha</cp:lastModifiedBy>
  <cp:revision>2</cp:revision>
  <dcterms:modified xsi:type="dcterms:W3CDTF">2026-06-06T15:51:35Z</dcterms:modified>
</cp:coreProperties>
</file>